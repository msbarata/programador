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2"/>
    <p:sldId id="257" r:id="rId3"/>
    <p:sldId id="258" r:id="rId4"/>
    <p:sldId id="272" r:id="rId5"/>
    <p:sldId id="259" r:id="rId6"/>
    <p:sldId id="260" r:id="rId7"/>
    <p:sldId id="261" r:id="rId8"/>
    <p:sldId id="262" r:id="rId9"/>
    <p:sldId id="263" r:id="rId10"/>
    <p:sldId id="264" r:id="rId11"/>
    <p:sldId id="265" r:id="rId12"/>
    <p:sldId id="266" r:id="rId13"/>
    <p:sldId id="267" r:id="rId14"/>
    <p:sldId id="268" r:id="rId15"/>
    <p:sldId id="269" r:id="rId16"/>
    <p:sldId id="270" r:id="rId17"/>
  </p:sldIdLst>
  <p:sldSz cx="9144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926" autoAdjust="0"/>
    <p:restoredTop sz="94660"/>
  </p:normalViewPr>
  <p:slideViewPr>
    <p:cSldViewPr snapToGrid="0" snapToObjects="1">
      <p:cViewPr varScale="1">
        <p:scale>
          <a:sx n="65" d="100"/>
          <a:sy n="65" d="100"/>
        </p:scale>
        <p:origin x="1560" y="78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presProps" Target="presProps.xml"/><Relationship Id="rId3" Type="http://schemas.openxmlformats.org/officeDocument/2006/relationships/slide" Target="slides/slide2.xml"/><Relationship Id="rId21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10" Type="http://schemas.openxmlformats.org/officeDocument/2006/relationships/slide" Target="slides/slide9.xml"/><Relationship Id="rId19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8/8/2025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8/8/2025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8/8/2025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8/8/2025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8/8/2025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8/8/2025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8/8/2025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8/8/2025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8/8/2025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8/8/2025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8/8/2025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8/8/2025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6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sv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sv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sv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sv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6BE11944-ED05-4FE9-9927-06C110BB3A3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2812508-238C-4BCD-BDD3-25C99C5CA23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7167"/>
            <a:ext cx="9141714" cy="3490956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EA98B5EE-6906-45B1-8691-D06F06B6C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3CB4D77E-DA74-4797-88E4-C7D817D3151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92281" y="1014574"/>
            <a:ext cx="7294297" cy="2226769"/>
          </a:xfrm>
        </p:spPr>
        <p:txBody>
          <a:bodyPr anchor="ctr">
            <a:normAutofit/>
          </a:bodyPr>
          <a:lstStyle/>
          <a:p>
            <a:pPr algn="l"/>
            <a:r>
              <a:rPr lang="pt-BR" sz="4200">
                <a:solidFill>
                  <a:schemeClr val="bg1"/>
                </a:solidFill>
              </a:rPr>
              <a:t>FTP – File Transfer Protocol</a:t>
            </a:r>
          </a:p>
          <a:p>
            <a:pPr algn="l"/>
            <a:r>
              <a:rPr lang="pt-BR" sz="4200">
                <a:solidFill>
                  <a:schemeClr val="bg1"/>
                </a:solidFill>
              </a:rPr>
              <a:t>Camada de Aplicação (Modelo TCP/IP)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92281" y="3640633"/>
            <a:ext cx="7294297" cy="2487212"/>
          </a:xfrm>
        </p:spPr>
        <p:txBody>
          <a:bodyPr anchor="ctr">
            <a:normAutofit/>
          </a:bodyPr>
          <a:lstStyle/>
          <a:p>
            <a:pPr algn="l"/>
            <a:r>
              <a:rPr lang="pt-BR">
                <a:solidFill>
                  <a:schemeClr val="tx2"/>
                </a:solidFill>
              </a:rPr>
              <a:t>Apresentação completa com exemplos e diagramas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907E470A-25F4-47D0-8FEC-EE9FD606BB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66220E63-99E1-482A-A0A6-B47EB4BF879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136" y="0"/>
            <a:ext cx="9141711" cy="6858000"/>
            <a:chOff x="-2848" y="0"/>
            <a:chExt cx="12188949" cy="6858000"/>
          </a:xfrm>
        </p:grpSpPr>
        <p:sp>
          <p:nvSpPr>
            <p:cNvPr id="11" name="Color Cover">
              <a:extLst>
                <a:ext uri="{FF2B5EF4-FFF2-40B4-BE49-F238E27FC236}">
                  <a16:creationId xmlns:a16="http://schemas.microsoft.com/office/drawing/2014/main" id="{F8610896-EA5E-4BE8-8398-C1AFC0490A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5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" name="Color Cover">
              <a:extLst>
                <a:ext uri="{FF2B5EF4-FFF2-40B4-BE49-F238E27FC236}">
                  <a16:creationId xmlns:a16="http://schemas.microsoft.com/office/drawing/2014/main" id="{F44E9794-9C4B-427F-BB50-89D893347DE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6">
                <a:alpha val="1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618EE54-271A-4FE8-B6B3-D0FCF55A7A0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88459" y="598259"/>
            <a:ext cx="8167081" cy="5680742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ECA6F781-4382-4525-9DA8-9D66605F877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209C186B-2883-498E-A176-6B60F8B51BF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61238" y="891712"/>
            <a:ext cx="3982212" cy="5160789"/>
          </a:xfrm>
        </p:spPr>
        <p:txBody>
          <a:bodyPr anchor="ctr">
            <a:normAutofit/>
          </a:bodyPr>
          <a:lstStyle/>
          <a:p>
            <a:pPr algn="l"/>
            <a:r>
              <a:rPr lang="pt-BR" sz="4200">
                <a:solidFill>
                  <a:schemeClr val="bg1"/>
                </a:solidFill>
              </a:rPr>
              <a:t>Sumário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809226" y="891713"/>
            <a:ext cx="3438662" cy="5160790"/>
          </a:xfrm>
        </p:spPr>
        <p:txBody>
          <a:bodyPr anchor="ctr">
            <a:normAutofit/>
          </a:bodyPr>
          <a:lstStyle/>
          <a:p>
            <a:r>
              <a:rPr lang="pt-BR" sz="1600" dirty="0"/>
              <a:t> O que é FTP</a:t>
            </a:r>
          </a:p>
          <a:p>
            <a:r>
              <a:rPr lang="pt-BR" sz="1600" dirty="0"/>
              <a:t>Arquitetura e portas</a:t>
            </a:r>
          </a:p>
          <a:p>
            <a:r>
              <a:rPr lang="pt-BR" sz="1600" dirty="0"/>
              <a:t>Modos: ativo </a:t>
            </a:r>
            <a:r>
              <a:rPr lang="pt-BR" sz="1600" dirty="0" err="1"/>
              <a:t>vs</a:t>
            </a:r>
            <a:r>
              <a:rPr lang="pt-BR" sz="1600" dirty="0"/>
              <a:t> passivo</a:t>
            </a:r>
          </a:p>
          <a:p>
            <a:r>
              <a:rPr lang="pt-BR" sz="1600" dirty="0"/>
              <a:t>Exemplos de sessão (CLI)</a:t>
            </a:r>
          </a:p>
          <a:p>
            <a:r>
              <a:rPr lang="pt-BR" sz="1600" dirty="0"/>
              <a:t>FTPS </a:t>
            </a:r>
            <a:r>
              <a:rPr lang="pt-BR" sz="1600" dirty="0" err="1"/>
              <a:t>vs</a:t>
            </a:r>
            <a:r>
              <a:rPr lang="pt-BR" sz="1600" dirty="0"/>
              <a:t> SFTP</a:t>
            </a:r>
          </a:p>
          <a:p>
            <a:r>
              <a:rPr lang="pt-BR" sz="1600" dirty="0"/>
              <a:t>Boas práticas e configuração</a:t>
            </a:r>
          </a:p>
          <a:p>
            <a:r>
              <a:rPr lang="pt-BR" sz="1600" dirty="0"/>
              <a:t>Ferramentas e referências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8"/>
            <a:ext cx="3847200" cy="5340097"/>
          </a:xfrm>
        </p:spPr>
        <p:txBody>
          <a:bodyPr anchor="ctr">
            <a:normAutofit/>
          </a:bodyPr>
          <a:lstStyle/>
          <a:p>
            <a:pPr algn="l"/>
            <a:r>
              <a:rPr lang="pt-PT" sz="4200">
                <a:solidFill>
                  <a:schemeClr val="bg1"/>
                </a:solidFill>
              </a:rPr>
              <a:t>O que é FTP?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848307" y="841247"/>
            <a:ext cx="3363402" cy="5340097"/>
          </a:xfrm>
        </p:spPr>
        <p:txBody>
          <a:bodyPr anchor="ctr">
            <a:normAutofit/>
          </a:bodyPr>
          <a:lstStyle/>
          <a:p>
            <a:pPr lvl="1">
              <a:lnSpc>
                <a:spcPct val="90000"/>
              </a:lnSpc>
            </a:pPr>
            <a:r>
              <a:rPr lang="pt-BR" sz="1600" b="1" dirty="0"/>
              <a:t>FTP significa File </a:t>
            </a:r>
            <a:r>
              <a:rPr lang="pt-BR" sz="1600" b="1" dirty="0" err="1"/>
              <a:t>Transfer</a:t>
            </a:r>
            <a:r>
              <a:rPr lang="pt-BR" sz="1600" b="1" dirty="0"/>
              <a:t> </a:t>
            </a:r>
            <a:r>
              <a:rPr lang="pt-BR" sz="1600" b="1" dirty="0" err="1"/>
              <a:t>Protocol</a:t>
            </a:r>
            <a:r>
              <a:rPr lang="pt-BR" sz="1600" b="1" dirty="0"/>
              <a:t> </a:t>
            </a:r>
            <a:r>
              <a:rPr lang="pt-BR" sz="1600" dirty="0"/>
              <a:t>(Protocolo de Transferência de Arquivos). Este protocolo de comunicação é usado para troca de arquivos entre um servidor e um cliente.</a:t>
            </a:r>
          </a:p>
          <a:p>
            <a:pPr lvl="1">
              <a:lnSpc>
                <a:spcPct val="90000"/>
              </a:lnSpc>
            </a:pPr>
            <a:r>
              <a:rPr lang="pt-BR" sz="1600" dirty="0"/>
              <a:t>O</a:t>
            </a:r>
            <a:r>
              <a:rPr lang="pt-BR" sz="1600" b="1" dirty="0"/>
              <a:t> FTP </a:t>
            </a:r>
            <a:r>
              <a:rPr lang="pt-BR" sz="1600" dirty="0"/>
              <a:t>serve para transferir arquivos entre computadores, </a:t>
            </a:r>
            <a:r>
              <a:rPr lang="pt-BR" sz="1600" b="1" dirty="0"/>
              <a:t>remotamente</a:t>
            </a:r>
            <a:r>
              <a:rPr lang="pt-BR" sz="1600" dirty="0"/>
              <a:t> ou numa </a:t>
            </a:r>
            <a:r>
              <a:rPr lang="pt-BR" sz="1600" b="1" dirty="0"/>
              <a:t>rede local</a:t>
            </a:r>
            <a:r>
              <a:rPr lang="pt-BR" sz="1600" dirty="0"/>
              <a:t>. </a:t>
            </a:r>
          </a:p>
          <a:p>
            <a:pPr lvl="1">
              <a:lnSpc>
                <a:spcPct val="90000"/>
              </a:lnSpc>
            </a:pPr>
            <a:r>
              <a:rPr lang="pt-BR" sz="1600" dirty="0"/>
              <a:t>O</a:t>
            </a:r>
            <a:r>
              <a:rPr lang="pt-BR" sz="1600" b="1" dirty="0"/>
              <a:t> FTP </a:t>
            </a:r>
            <a:r>
              <a:rPr lang="pt-BR" sz="1600" dirty="0"/>
              <a:t>também pode ser usado para carregar arquivos de um computador para uma conta de hospedagem de sites; </a:t>
            </a:r>
          </a:p>
          <a:p>
            <a:pPr lvl="1">
              <a:lnSpc>
                <a:spcPct val="90000"/>
              </a:lnSpc>
            </a:pPr>
            <a:r>
              <a:rPr lang="pt-BR" sz="1600" b="1" dirty="0"/>
              <a:t>Protocolo para transferência de arquivos</a:t>
            </a:r>
            <a:r>
              <a:rPr lang="pt-BR" sz="1600" dirty="0"/>
              <a:t> entre hosts via TCP/IP.</a:t>
            </a:r>
          </a:p>
          <a:p>
            <a:pPr lvl="1">
              <a:lnSpc>
                <a:spcPct val="90000"/>
              </a:lnSpc>
            </a:pPr>
            <a:r>
              <a:rPr lang="pt-BR" sz="1600" dirty="0"/>
              <a:t>Padronizado em </a:t>
            </a:r>
            <a:r>
              <a:rPr lang="pt-BR" sz="1600" b="1" dirty="0"/>
              <a:t>RFC 959 (1985).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6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78" name="Group 62">
            <a:extLst>
              <a:ext uri="{FF2B5EF4-FFF2-40B4-BE49-F238E27FC236}">
                <a16:creationId xmlns:a16="http://schemas.microsoft.com/office/drawing/2014/main" id="{AC27E70C-5470-4262-B9CE-AE52C51CF4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79" name="Color">
              <a:extLst>
                <a:ext uri="{FF2B5EF4-FFF2-40B4-BE49-F238E27FC236}">
                  <a16:creationId xmlns:a16="http://schemas.microsoft.com/office/drawing/2014/main" id="{B5C7D35F-738C-47DF-AD6E-859806E4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0" name="Color">
              <a:extLst>
                <a:ext uri="{FF2B5EF4-FFF2-40B4-BE49-F238E27FC236}">
                  <a16:creationId xmlns:a16="http://schemas.microsoft.com/office/drawing/2014/main" id="{740F8C8B-E52F-46CF-89C7-51C6A037CF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5" name="Imagem 4">
            <a:extLst>
              <a:ext uri="{FF2B5EF4-FFF2-40B4-BE49-F238E27FC236}">
                <a16:creationId xmlns:a16="http://schemas.microsoft.com/office/drawing/2014/main" id="{13705CFD-8780-5762-3D10-E283AF292E0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85284" y="3896997"/>
            <a:ext cx="4828264" cy="2268336"/>
          </a:xfrm>
          <a:prstGeom prst="rect">
            <a:avLst/>
          </a:prstGeom>
        </p:spPr>
      </p:pic>
      <p:grpSp>
        <p:nvGrpSpPr>
          <p:cNvPr id="81" name="Group 66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82" name="Freeform: Shape 67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83" name="Freeform: Shape 68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84" name="Freeform: Shape 69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85" name="Freeform: Shape 70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86" name="Freeform: Shape 71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87" name="Freeform: Shape 72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88" name="Freeform: Shape 73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ítulo 1">
            <a:extLst>
              <a:ext uri="{FF2B5EF4-FFF2-40B4-BE49-F238E27FC236}">
                <a16:creationId xmlns:a16="http://schemas.microsoft.com/office/drawing/2014/main" id="{10BC85B4-EFE3-111D-E6F4-4A524D2764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9788" y="841249"/>
            <a:ext cx="4269714" cy="2587131"/>
          </a:xfrm>
        </p:spPr>
        <p:txBody>
          <a:bodyPr anchor="b">
            <a:normAutofit/>
          </a:bodyPr>
          <a:lstStyle/>
          <a:p>
            <a:pPr algn="l"/>
            <a:r>
              <a:rPr lang="pt-PT" sz="4200">
                <a:solidFill>
                  <a:schemeClr val="bg1"/>
                </a:solidFill>
              </a:rPr>
              <a:t>Como funciona o protocolo?</a:t>
            </a:r>
          </a:p>
        </p:txBody>
      </p:sp>
      <p:sp>
        <p:nvSpPr>
          <p:cNvPr id="3" name="Marcador de Posição de Conteúdo 2">
            <a:extLst>
              <a:ext uri="{FF2B5EF4-FFF2-40B4-BE49-F238E27FC236}">
                <a16:creationId xmlns:a16="http://schemas.microsoft.com/office/drawing/2014/main" id="{B1148A96-A952-422E-47BE-7FAF2D71CBF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0260" y="3874182"/>
            <a:ext cx="3721735" cy="2651110"/>
          </a:xfrm>
        </p:spPr>
        <p:txBody>
          <a:bodyPr anchor="ctr">
            <a:normAutofit fontScale="92500" lnSpcReduction="10000"/>
          </a:bodyPr>
          <a:lstStyle/>
          <a:p>
            <a:endParaRPr lang="pt-BR" sz="1600" dirty="0"/>
          </a:p>
          <a:p>
            <a:r>
              <a:rPr lang="pt-BR" sz="1600" b="1" dirty="0"/>
              <a:t>FTP</a:t>
            </a:r>
            <a:r>
              <a:rPr lang="pt-BR" sz="1600" dirty="0"/>
              <a:t> usa e depende do Protocolo de Controle de Transmissão </a:t>
            </a:r>
            <a:r>
              <a:rPr lang="pt-BR" sz="1600" b="1" dirty="0"/>
              <a:t>(TCP)</a:t>
            </a:r>
            <a:r>
              <a:rPr lang="pt-BR" sz="1600" dirty="0"/>
              <a:t> para assegurar que todos os pacotes de dados sejam enviados corretamente para o destino correto. </a:t>
            </a:r>
            <a:r>
              <a:rPr lang="pt-BR" sz="1600" b="1" dirty="0"/>
              <a:t>O TCP </a:t>
            </a:r>
            <a:r>
              <a:rPr lang="pt-BR" sz="1600" dirty="0"/>
              <a:t>estabelece uma conexão entre dois dispositivos, </a:t>
            </a:r>
            <a:r>
              <a:rPr lang="pt-BR" sz="1600" b="1" dirty="0"/>
              <a:t>divide os dados em segmentos e envia os segmentos para o dispositivo de destino, onde eles são reagrupados </a:t>
            </a:r>
            <a:r>
              <a:rPr lang="pt-BR" sz="1600" dirty="0"/>
              <a:t>no fluxo de dados original.</a:t>
            </a:r>
          </a:p>
          <a:p>
            <a:endParaRPr lang="pt-BR" sz="1600" dirty="0"/>
          </a:p>
          <a:p>
            <a:endParaRPr lang="pt-PT" sz="1600" dirty="0"/>
          </a:p>
        </p:txBody>
      </p:sp>
    </p:spTree>
    <p:extLst>
      <p:ext uri="{BB962C8B-B14F-4D97-AF65-F5344CB8AC3E}">
        <p14:creationId xmlns:p14="http://schemas.microsoft.com/office/powerpoint/2010/main" val="81509965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0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2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74" name="Group 73">
            <a:extLst>
              <a:ext uri="{FF2B5EF4-FFF2-40B4-BE49-F238E27FC236}">
                <a16:creationId xmlns:a16="http://schemas.microsoft.com/office/drawing/2014/main" id="{AC27E70C-5470-4262-B9CE-AE52C51CF4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75" name="Color">
              <a:extLst>
                <a:ext uri="{FF2B5EF4-FFF2-40B4-BE49-F238E27FC236}">
                  <a16:creationId xmlns:a16="http://schemas.microsoft.com/office/drawing/2014/main" id="{B5C7D35F-738C-47DF-AD6E-859806E4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6" name="Color">
              <a:extLst>
                <a:ext uri="{FF2B5EF4-FFF2-40B4-BE49-F238E27FC236}">
                  <a16:creationId xmlns:a16="http://schemas.microsoft.com/office/drawing/2014/main" id="{740F8C8B-E52F-46CF-89C7-51C6A037CF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3" name="Picture 2" descr="ftp_control_data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9717" y="3573191"/>
            <a:ext cx="8468348" cy="3175629"/>
          </a:xfrm>
          <a:prstGeom prst="rect">
            <a:avLst/>
          </a:prstGeom>
        </p:spPr>
      </p:pic>
      <p:grpSp>
        <p:nvGrpSpPr>
          <p:cNvPr id="78" name="Group 77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9"/>
            <a:ext cx="4269714" cy="2587131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l" defTabSz="914400">
              <a:lnSpc>
                <a:spcPct val="90000"/>
              </a:lnSpc>
            </a:pPr>
            <a:r>
              <a:rPr lang="en-US" sz="4200" kern="1200">
                <a:solidFill>
                  <a:schemeClr val="bg1"/>
                </a:solidFill>
                <a:latin typeface="+mj-lt"/>
                <a:ea typeface="+mj-ea"/>
                <a:cs typeface="+mj-cs"/>
              </a:rPr>
              <a:t>Arquitetura</a:t>
            </a:r>
            <a:r>
              <a:rPr lang="en-US" sz="4200" kern="1200" dirty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: </a:t>
            </a:r>
            <a:r>
              <a:rPr lang="en-US" sz="4200" kern="1200">
                <a:solidFill>
                  <a:schemeClr val="bg1"/>
                </a:solidFill>
                <a:latin typeface="+mj-lt"/>
                <a:ea typeface="+mj-ea"/>
                <a:cs typeface="+mj-cs"/>
              </a:rPr>
              <a:t>canais</a:t>
            </a:r>
            <a:r>
              <a:rPr lang="en-US" sz="4200" kern="1200" dirty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 de </a:t>
            </a:r>
            <a:r>
              <a:rPr lang="en-US" sz="4200" kern="1200">
                <a:solidFill>
                  <a:schemeClr val="bg1"/>
                </a:solidFill>
                <a:latin typeface="+mj-lt"/>
                <a:ea typeface="+mj-ea"/>
                <a:cs typeface="+mj-cs"/>
              </a:rPr>
              <a:t>controle</a:t>
            </a:r>
            <a:r>
              <a:rPr lang="en-US" sz="4200" kern="1200" dirty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 e dados</a:t>
            </a:r>
          </a:p>
        </p:txBody>
      </p:sp>
      <p:sp>
        <p:nvSpPr>
          <p:cNvPr id="5" name="CaixaDeTexto 4">
            <a:extLst>
              <a:ext uri="{FF2B5EF4-FFF2-40B4-BE49-F238E27FC236}">
                <a16:creationId xmlns:a16="http://schemas.microsoft.com/office/drawing/2014/main" id="{FA608737-3732-24E2-0B32-D6D61DD8F254}"/>
              </a:ext>
            </a:extLst>
          </p:cNvPr>
          <p:cNvSpPr txBox="1"/>
          <p:nvPr/>
        </p:nvSpPr>
        <p:spPr>
          <a:xfrm>
            <a:off x="660278" y="3242300"/>
            <a:ext cx="8160306" cy="807496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en-US" sz="1600" dirty="0"/>
          </a:p>
          <a:p>
            <a:pPr defTabSz="914400">
              <a:lnSpc>
                <a:spcPct val="90000"/>
              </a:lnSpc>
              <a:spcAft>
                <a:spcPts val="600"/>
              </a:spcAft>
            </a:pPr>
            <a:r>
              <a:rPr lang="en-US" sz="1600" dirty="0" err="1"/>
              <a:t>Modelo</a:t>
            </a:r>
            <a:r>
              <a:rPr lang="en-US" sz="1600" dirty="0"/>
              <a:t> </a:t>
            </a:r>
            <a:r>
              <a:rPr lang="en-US" sz="1600" dirty="0" err="1"/>
              <a:t>cliente-servidor</a:t>
            </a:r>
            <a:r>
              <a:rPr lang="en-US" sz="1600" dirty="0"/>
              <a:t> (FTP): </a:t>
            </a:r>
            <a:r>
              <a:rPr lang="en-US" sz="1600" dirty="0" err="1"/>
              <a:t>cliente</a:t>
            </a:r>
            <a:r>
              <a:rPr lang="en-US" sz="1600" dirty="0"/>
              <a:t> </a:t>
            </a:r>
            <a:r>
              <a:rPr lang="en-US" sz="1600" dirty="0" err="1"/>
              <a:t>inicia</a:t>
            </a:r>
            <a:r>
              <a:rPr lang="en-US" sz="1600" dirty="0"/>
              <a:t> </a:t>
            </a:r>
            <a:r>
              <a:rPr lang="en-US" sz="1600" dirty="0" err="1"/>
              <a:t>sessão</a:t>
            </a:r>
            <a:r>
              <a:rPr lang="en-US" sz="1600" dirty="0"/>
              <a:t> e </a:t>
            </a:r>
            <a:r>
              <a:rPr lang="en-US" sz="1600" dirty="0" err="1"/>
              <a:t>envia</a:t>
            </a:r>
            <a:r>
              <a:rPr lang="en-US" sz="1600" dirty="0"/>
              <a:t> </a:t>
            </a:r>
            <a:r>
              <a:rPr lang="en-US" sz="1600" dirty="0" err="1"/>
              <a:t>comandos</a:t>
            </a:r>
            <a:r>
              <a:rPr lang="en-US" sz="1600" dirty="0"/>
              <a:t>; </a:t>
            </a:r>
            <a:r>
              <a:rPr lang="en-US" sz="1600" dirty="0" err="1"/>
              <a:t>servidor</a:t>
            </a:r>
            <a:r>
              <a:rPr lang="en-US" sz="1600" dirty="0"/>
              <a:t> </a:t>
            </a:r>
            <a:r>
              <a:rPr lang="en-US" sz="1600" dirty="0" err="1"/>
              <a:t>responde</a:t>
            </a:r>
            <a:r>
              <a:rPr lang="en-US" sz="1600" dirty="0"/>
              <a:t>. 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C27E70C-5470-4262-B9CE-AE52C51CF4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B5C7D35F-738C-47DF-AD6E-859806E4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740F8C8B-E52F-46CF-89C7-51C6A037CF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3" name="Picture 2" descr="ftp_active_mod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89650" y="3606527"/>
            <a:ext cx="8362410" cy="3135902"/>
          </a:xfrm>
          <a:prstGeom prst="rect">
            <a:avLst/>
          </a:prstGeom>
        </p:spPr>
      </p:pic>
      <p:grpSp>
        <p:nvGrpSpPr>
          <p:cNvPr id="17" name="Group 16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9"/>
            <a:ext cx="4269714" cy="2587131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l" defTabSz="914400">
              <a:lnSpc>
                <a:spcPct val="90000"/>
              </a:lnSpc>
            </a:pPr>
            <a:r>
              <a:rPr lang="en-US" sz="4200" kern="1200">
                <a:solidFill>
                  <a:schemeClr val="bg1"/>
                </a:solidFill>
                <a:latin typeface="+mj-lt"/>
                <a:ea typeface="+mj-ea"/>
                <a:cs typeface="+mj-cs"/>
              </a:rPr>
              <a:t>Modo Ativo (Active)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4407356" y="1191856"/>
            <a:ext cx="4269715" cy="232495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600" dirty="0"/>
              <a:t>Como </a:t>
            </a:r>
            <a:r>
              <a:rPr lang="en-US" sz="1600" dirty="0" err="1"/>
              <a:t>funciona</a:t>
            </a:r>
            <a:r>
              <a:rPr lang="en-US" sz="1600" dirty="0"/>
              <a:t> (</a:t>
            </a:r>
            <a:r>
              <a:rPr lang="en-US" sz="1600" dirty="0" err="1"/>
              <a:t>resumo</a:t>
            </a:r>
            <a:r>
              <a:rPr lang="en-US" sz="1600" dirty="0"/>
              <a:t>):</a:t>
            </a:r>
          </a:p>
          <a:p>
            <a:pPr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600" dirty="0" err="1"/>
              <a:t>Cliente</a:t>
            </a:r>
            <a:r>
              <a:rPr lang="en-US" sz="1600" dirty="0"/>
              <a:t> </a:t>
            </a:r>
            <a:r>
              <a:rPr lang="en-US" sz="1600" dirty="0" err="1"/>
              <a:t>conecta</a:t>
            </a:r>
            <a:r>
              <a:rPr lang="en-US" sz="1600" dirty="0"/>
              <a:t> </a:t>
            </a:r>
            <a:r>
              <a:rPr lang="en-US" sz="1600" dirty="0" err="1"/>
              <a:t>ao</a:t>
            </a:r>
            <a:r>
              <a:rPr lang="en-US" sz="1600" dirty="0"/>
              <a:t> </a:t>
            </a:r>
            <a:r>
              <a:rPr lang="en-US" sz="1600" dirty="0" err="1"/>
              <a:t>servidor</a:t>
            </a:r>
            <a:r>
              <a:rPr lang="en-US" sz="1600" dirty="0"/>
              <a:t> (porta 21) no </a:t>
            </a:r>
            <a:r>
              <a:rPr lang="en-US" sz="1600" dirty="0" err="1"/>
              <a:t>controle</a:t>
            </a:r>
            <a:r>
              <a:rPr lang="en-US" sz="1600" dirty="0"/>
              <a:t>.</a:t>
            </a:r>
          </a:p>
          <a:p>
            <a:pPr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600" dirty="0" err="1"/>
              <a:t>Cliente</a:t>
            </a:r>
            <a:r>
              <a:rPr lang="en-US" sz="1600" dirty="0"/>
              <a:t> </a:t>
            </a:r>
            <a:r>
              <a:rPr lang="en-US" sz="1600" dirty="0" err="1"/>
              <a:t>informa</a:t>
            </a:r>
            <a:r>
              <a:rPr lang="en-US" sz="1600" dirty="0"/>
              <a:t> porta para dados via </a:t>
            </a:r>
            <a:r>
              <a:rPr lang="en-US" sz="1600" dirty="0" err="1"/>
              <a:t>comando</a:t>
            </a:r>
            <a:r>
              <a:rPr lang="en-US" sz="1600" dirty="0"/>
              <a:t> PORT.</a:t>
            </a:r>
          </a:p>
          <a:p>
            <a:pPr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600" dirty="0" err="1"/>
              <a:t>Servidor</a:t>
            </a:r>
            <a:r>
              <a:rPr lang="en-US" sz="1600" dirty="0"/>
              <a:t> </a:t>
            </a:r>
            <a:r>
              <a:rPr lang="en-US" sz="1600" dirty="0" err="1"/>
              <a:t>abre</a:t>
            </a:r>
            <a:r>
              <a:rPr lang="en-US" sz="1600" dirty="0"/>
              <a:t> </a:t>
            </a:r>
            <a:r>
              <a:rPr lang="en-US" sz="1600" dirty="0" err="1"/>
              <a:t>conexão</a:t>
            </a:r>
            <a:r>
              <a:rPr lang="en-US" sz="1600" dirty="0"/>
              <a:t> de dados a </a:t>
            </a:r>
            <a:r>
              <a:rPr lang="en-US" sz="1600" dirty="0" err="1"/>
              <a:t>partir</a:t>
            </a:r>
            <a:r>
              <a:rPr lang="en-US" sz="1600" dirty="0"/>
              <a:t> de </a:t>
            </a:r>
            <a:r>
              <a:rPr lang="en-US" sz="1600" dirty="0" err="1"/>
              <a:t>sua</a:t>
            </a:r>
            <a:r>
              <a:rPr lang="en-US" sz="1600" dirty="0"/>
              <a:t> porta 20 para a porta </a:t>
            </a:r>
            <a:r>
              <a:rPr lang="en-US" sz="1600" dirty="0" err="1"/>
              <a:t>indicada</a:t>
            </a:r>
            <a:r>
              <a:rPr lang="en-US" sz="1600" dirty="0"/>
              <a:t> do </a:t>
            </a:r>
            <a:r>
              <a:rPr lang="en-US" sz="1600" dirty="0" err="1"/>
              <a:t>cliente</a:t>
            </a:r>
            <a:r>
              <a:rPr lang="en-US" sz="1600" dirty="0"/>
              <a:t>.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C27E70C-5470-4262-B9CE-AE52C51CF4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B5C7D35F-738C-47DF-AD6E-859806E4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740F8C8B-E52F-46CF-89C7-51C6A037CF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3" name="Picture 2" descr="ftp_passive_mod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6396" y="3580579"/>
            <a:ext cx="8851208" cy="3158789"/>
          </a:xfrm>
          <a:prstGeom prst="rect">
            <a:avLst/>
          </a:prstGeom>
        </p:spPr>
      </p:pic>
      <p:grpSp>
        <p:nvGrpSpPr>
          <p:cNvPr id="17" name="Group 16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9"/>
            <a:ext cx="4269714" cy="2587131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l" defTabSz="914400">
              <a:lnSpc>
                <a:spcPct val="90000"/>
              </a:lnSpc>
            </a:pPr>
            <a:r>
              <a:rPr lang="en-US" sz="4200" kern="1200">
                <a:solidFill>
                  <a:schemeClr val="bg1"/>
                </a:solidFill>
                <a:latin typeface="+mj-lt"/>
                <a:ea typeface="+mj-ea"/>
                <a:cs typeface="+mj-cs"/>
              </a:rPr>
              <a:t>Modo Passivo (Passive)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4407356" y="1098482"/>
            <a:ext cx="4269715" cy="265111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600" dirty="0"/>
              <a:t>Como </a:t>
            </a:r>
            <a:r>
              <a:rPr lang="en-US" sz="1600" dirty="0" err="1"/>
              <a:t>funciona</a:t>
            </a:r>
            <a:r>
              <a:rPr lang="en-US" sz="1600" dirty="0"/>
              <a:t> (</a:t>
            </a:r>
            <a:r>
              <a:rPr lang="en-US" sz="1600" dirty="0" err="1"/>
              <a:t>resumo</a:t>
            </a:r>
            <a:r>
              <a:rPr lang="en-US" sz="1600" dirty="0"/>
              <a:t>):</a:t>
            </a:r>
          </a:p>
          <a:p>
            <a:pPr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600" dirty="0" err="1"/>
              <a:t>Cliente</a:t>
            </a:r>
            <a:r>
              <a:rPr lang="en-US" sz="1600" dirty="0"/>
              <a:t> </a:t>
            </a:r>
            <a:r>
              <a:rPr lang="en-US" sz="1600" dirty="0" err="1"/>
              <a:t>conecta</a:t>
            </a:r>
            <a:r>
              <a:rPr lang="en-US" sz="1600" dirty="0"/>
              <a:t> </a:t>
            </a:r>
            <a:r>
              <a:rPr lang="en-US" sz="1600" dirty="0" err="1"/>
              <a:t>ao</a:t>
            </a:r>
            <a:r>
              <a:rPr lang="en-US" sz="1600" dirty="0"/>
              <a:t> </a:t>
            </a:r>
            <a:r>
              <a:rPr lang="en-US" sz="1600" dirty="0" err="1"/>
              <a:t>servidor</a:t>
            </a:r>
            <a:r>
              <a:rPr lang="en-US" sz="1600" dirty="0"/>
              <a:t> (porta 21) no </a:t>
            </a:r>
            <a:r>
              <a:rPr lang="en-US" sz="1600" dirty="0" err="1"/>
              <a:t>controle</a:t>
            </a:r>
            <a:r>
              <a:rPr lang="en-US" sz="1600" dirty="0"/>
              <a:t>.</a:t>
            </a:r>
          </a:p>
          <a:p>
            <a:pPr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600" dirty="0" err="1"/>
              <a:t>Cliente</a:t>
            </a:r>
            <a:r>
              <a:rPr lang="en-US" sz="1600" dirty="0"/>
              <a:t> </a:t>
            </a:r>
            <a:r>
              <a:rPr lang="en-US" sz="1600" dirty="0" err="1"/>
              <a:t>envia</a:t>
            </a:r>
            <a:r>
              <a:rPr lang="en-US" sz="1600" dirty="0"/>
              <a:t> PASV; </a:t>
            </a:r>
            <a:r>
              <a:rPr lang="en-US" sz="1600" dirty="0" err="1"/>
              <a:t>servidor</a:t>
            </a:r>
            <a:r>
              <a:rPr lang="en-US" sz="1600" dirty="0"/>
              <a:t> </a:t>
            </a:r>
            <a:r>
              <a:rPr lang="en-US" sz="1600" dirty="0" err="1"/>
              <a:t>responde</a:t>
            </a:r>
            <a:r>
              <a:rPr lang="en-US" sz="1600" dirty="0"/>
              <a:t> com IP e porta (ex.: 227 Entering Passive Mode (a,b,c,d,p1,p2)).</a:t>
            </a:r>
          </a:p>
          <a:p>
            <a:pPr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600" dirty="0" err="1"/>
              <a:t>Cliente</a:t>
            </a:r>
            <a:r>
              <a:rPr lang="en-US" sz="1600" dirty="0"/>
              <a:t> </a:t>
            </a:r>
            <a:r>
              <a:rPr lang="en-US" sz="1600" dirty="0" err="1"/>
              <a:t>abre</a:t>
            </a:r>
            <a:r>
              <a:rPr lang="en-US" sz="1600" dirty="0"/>
              <a:t> </a:t>
            </a:r>
            <a:r>
              <a:rPr lang="en-US" sz="1600" dirty="0" err="1"/>
              <a:t>conexão</a:t>
            </a:r>
            <a:r>
              <a:rPr lang="en-US" sz="1600" dirty="0"/>
              <a:t> </a:t>
            </a:r>
            <a:r>
              <a:rPr lang="en-US" sz="1600" dirty="0" err="1"/>
              <a:t>ao</a:t>
            </a:r>
            <a:r>
              <a:rPr lang="en-US" sz="1600" dirty="0"/>
              <a:t> </a:t>
            </a:r>
            <a:r>
              <a:rPr lang="en-US" sz="1600" dirty="0" err="1"/>
              <a:t>porto</a:t>
            </a:r>
            <a:r>
              <a:rPr lang="en-US" sz="1600" dirty="0"/>
              <a:t> </a:t>
            </a:r>
            <a:r>
              <a:rPr lang="en-US" sz="1600" dirty="0" err="1"/>
              <a:t>indicado</a:t>
            </a:r>
            <a:r>
              <a:rPr lang="en-US" sz="1600" dirty="0"/>
              <a:t> do </a:t>
            </a:r>
            <a:r>
              <a:rPr lang="en-US" sz="1600" dirty="0" err="1"/>
              <a:t>servidor</a:t>
            </a:r>
            <a:r>
              <a:rPr lang="en-US" sz="1600" dirty="0"/>
              <a:t> para </a:t>
            </a:r>
            <a:r>
              <a:rPr lang="en-US" sz="1600" dirty="0" err="1"/>
              <a:t>transferência</a:t>
            </a:r>
            <a:r>
              <a:rPr lang="en-US" sz="1600" dirty="0"/>
              <a:t> de dados.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C27E70C-5470-4262-B9CE-AE52C51CF4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B5C7D35F-738C-47DF-AD6E-859806E4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740F8C8B-E52F-46CF-89C7-51C6A037CF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7" name="Graphic 6" descr="Desligado">
            <a:extLst>
              <a:ext uri="{FF2B5EF4-FFF2-40B4-BE49-F238E27FC236}">
                <a16:creationId xmlns:a16="http://schemas.microsoft.com/office/drawing/2014/main" id="{DB8B7643-0C03-E61C-6094-02253AB4820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102735" y="1655170"/>
            <a:ext cx="3547660" cy="3547660"/>
          </a:xfrm>
          <a:prstGeom prst="rect">
            <a:avLst/>
          </a:prstGeom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9"/>
            <a:ext cx="4269714" cy="2587131"/>
          </a:xfrm>
        </p:spPr>
        <p:txBody>
          <a:bodyPr anchor="b">
            <a:normAutofit/>
          </a:bodyPr>
          <a:lstStyle/>
          <a:p>
            <a:pPr algn="l"/>
            <a:r>
              <a:rPr lang="pt-PT" sz="4200">
                <a:solidFill>
                  <a:schemeClr val="bg1"/>
                </a:solidFill>
              </a:rPr>
              <a:t>Exemplo: Sessão FTP (Anônima)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89787" y="3566810"/>
            <a:ext cx="4269715" cy="2651110"/>
          </a:xfrm>
        </p:spPr>
        <p:txBody>
          <a:bodyPr anchor="ctr">
            <a:normAutofit/>
          </a:bodyPr>
          <a:lstStyle/>
          <a:p>
            <a:pPr>
              <a:lnSpc>
                <a:spcPct val="90000"/>
              </a:lnSpc>
            </a:pPr>
            <a:r>
              <a:rPr lang="pt-PT" sz="1000" dirty="0">
                <a:latin typeface="Courier New"/>
              </a:rPr>
              <a:t>$ </a:t>
            </a:r>
            <a:r>
              <a:rPr lang="pt-PT" sz="1000" dirty="0" err="1">
                <a:latin typeface="Courier New"/>
              </a:rPr>
              <a:t>ftp</a:t>
            </a:r>
            <a:r>
              <a:rPr lang="pt-PT" sz="1000" dirty="0">
                <a:latin typeface="Courier New"/>
              </a:rPr>
              <a:t> ftp.example.com</a:t>
            </a:r>
          </a:p>
          <a:p>
            <a:pPr lvl="1">
              <a:lnSpc>
                <a:spcPct val="90000"/>
              </a:lnSpc>
            </a:pPr>
            <a:r>
              <a:rPr lang="pt-PT" sz="1000" dirty="0" err="1">
                <a:latin typeface="Courier New"/>
              </a:rPr>
              <a:t>Connected</a:t>
            </a:r>
            <a:r>
              <a:rPr lang="pt-PT" sz="1000" dirty="0">
                <a:latin typeface="Courier New"/>
              </a:rPr>
              <a:t> to ftp.example.com.</a:t>
            </a:r>
            <a:br>
              <a:rPr lang="pt-PT" sz="1000" dirty="0"/>
            </a:br>
            <a:r>
              <a:rPr lang="pt-PT" sz="1000" dirty="0">
                <a:latin typeface="Courier New"/>
              </a:rPr>
              <a:t>220 (</a:t>
            </a:r>
            <a:r>
              <a:rPr lang="pt-PT" sz="1000" dirty="0" err="1">
                <a:latin typeface="Courier New"/>
              </a:rPr>
              <a:t>vsftpd</a:t>
            </a:r>
            <a:r>
              <a:rPr lang="pt-PT" sz="1000" dirty="0">
                <a:latin typeface="Courier New"/>
              </a:rPr>
              <a:t> 3.0.3)</a:t>
            </a:r>
            <a:br>
              <a:rPr lang="pt-PT" sz="1000" dirty="0"/>
            </a:br>
            <a:r>
              <a:rPr lang="pt-PT" sz="1000" dirty="0" err="1">
                <a:latin typeface="Courier New"/>
              </a:rPr>
              <a:t>Name</a:t>
            </a:r>
            <a:r>
              <a:rPr lang="pt-PT" sz="1000" dirty="0">
                <a:latin typeface="Courier New"/>
              </a:rPr>
              <a:t> (</a:t>
            </a:r>
            <a:r>
              <a:rPr lang="pt-PT" sz="1000" dirty="0" err="1">
                <a:latin typeface="Courier New"/>
              </a:rPr>
              <a:t>ftp.example.com:user</a:t>
            </a:r>
            <a:r>
              <a:rPr lang="pt-PT" sz="1000" dirty="0">
                <a:latin typeface="Courier New"/>
              </a:rPr>
              <a:t>): </a:t>
            </a:r>
            <a:r>
              <a:rPr lang="pt-PT" sz="1000" dirty="0" err="1">
                <a:latin typeface="Courier New"/>
              </a:rPr>
              <a:t>anonymous</a:t>
            </a:r>
            <a:br>
              <a:rPr lang="pt-PT" sz="1000" dirty="0"/>
            </a:br>
            <a:r>
              <a:rPr lang="pt-PT" sz="1000" dirty="0">
                <a:latin typeface="Courier New"/>
              </a:rPr>
              <a:t>331 </a:t>
            </a:r>
            <a:r>
              <a:rPr lang="pt-PT" sz="1000" dirty="0" err="1">
                <a:latin typeface="Courier New"/>
              </a:rPr>
              <a:t>Please</a:t>
            </a:r>
            <a:r>
              <a:rPr lang="pt-PT" sz="1000" dirty="0">
                <a:latin typeface="Courier New"/>
              </a:rPr>
              <a:t> </a:t>
            </a:r>
            <a:r>
              <a:rPr lang="pt-PT" sz="1000" dirty="0" err="1">
                <a:latin typeface="Courier New"/>
              </a:rPr>
              <a:t>specify</a:t>
            </a:r>
            <a:r>
              <a:rPr lang="pt-PT" sz="1000" dirty="0">
                <a:latin typeface="Courier New"/>
              </a:rPr>
              <a:t> </a:t>
            </a:r>
            <a:r>
              <a:rPr lang="pt-PT" sz="1000" dirty="0" err="1">
                <a:latin typeface="Courier New"/>
              </a:rPr>
              <a:t>the</a:t>
            </a:r>
            <a:r>
              <a:rPr lang="pt-PT" sz="1000" dirty="0">
                <a:latin typeface="Courier New"/>
              </a:rPr>
              <a:t> password.</a:t>
            </a:r>
            <a:br>
              <a:rPr lang="pt-PT" sz="1000" dirty="0"/>
            </a:br>
            <a:r>
              <a:rPr lang="pt-PT" sz="1000" dirty="0">
                <a:latin typeface="Courier New"/>
              </a:rPr>
              <a:t>Password: &lt;email@example.com&gt;</a:t>
            </a:r>
            <a:br>
              <a:rPr lang="pt-PT" sz="1000" dirty="0"/>
            </a:br>
            <a:r>
              <a:rPr lang="pt-PT" sz="1000" dirty="0">
                <a:latin typeface="Courier New"/>
              </a:rPr>
              <a:t>230 Login </a:t>
            </a:r>
            <a:r>
              <a:rPr lang="pt-PT" sz="1000" dirty="0" err="1">
                <a:latin typeface="Courier New"/>
              </a:rPr>
              <a:t>successful</a:t>
            </a:r>
            <a:r>
              <a:rPr lang="pt-PT" sz="1000" dirty="0">
                <a:latin typeface="Courier New"/>
              </a:rPr>
              <a:t>.</a:t>
            </a:r>
            <a:br>
              <a:rPr lang="pt-PT" sz="1000" dirty="0"/>
            </a:br>
            <a:r>
              <a:rPr lang="pt-PT" sz="1000" dirty="0" err="1">
                <a:latin typeface="Courier New"/>
              </a:rPr>
              <a:t>ftp</a:t>
            </a:r>
            <a:r>
              <a:rPr lang="pt-PT" sz="1000" dirty="0">
                <a:latin typeface="Courier New"/>
              </a:rPr>
              <a:t>&gt; </a:t>
            </a:r>
            <a:r>
              <a:rPr lang="pt-PT" sz="1000" dirty="0" err="1">
                <a:latin typeface="Courier New"/>
              </a:rPr>
              <a:t>ls</a:t>
            </a:r>
            <a:br>
              <a:rPr lang="pt-PT" sz="1000" dirty="0"/>
            </a:br>
            <a:r>
              <a:rPr lang="pt-PT" sz="1000" dirty="0">
                <a:latin typeface="Courier New"/>
              </a:rPr>
              <a:t>150 </a:t>
            </a:r>
            <a:r>
              <a:rPr lang="pt-PT" sz="1000" dirty="0" err="1">
                <a:latin typeface="Courier New"/>
              </a:rPr>
              <a:t>Here</a:t>
            </a:r>
            <a:r>
              <a:rPr lang="pt-PT" sz="1000" dirty="0">
                <a:latin typeface="Courier New"/>
              </a:rPr>
              <a:t> comes </a:t>
            </a:r>
            <a:r>
              <a:rPr lang="pt-PT" sz="1000" dirty="0" err="1">
                <a:latin typeface="Courier New"/>
              </a:rPr>
              <a:t>the</a:t>
            </a:r>
            <a:r>
              <a:rPr lang="pt-PT" sz="1000" dirty="0">
                <a:latin typeface="Courier New"/>
              </a:rPr>
              <a:t> </a:t>
            </a:r>
            <a:r>
              <a:rPr lang="pt-PT" sz="1000" dirty="0" err="1">
                <a:latin typeface="Courier New"/>
              </a:rPr>
              <a:t>directory</a:t>
            </a:r>
            <a:r>
              <a:rPr lang="pt-PT" sz="1000" dirty="0">
                <a:latin typeface="Courier New"/>
              </a:rPr>
              <a:t> </a:t>
            </a:r>
            <a:r>
              <a:rPr lang="pt-PT" sz="1000" dirty="0" err="1">
                <a:latin typeface="Courier New"/>
              </a:rPr>
              <a:t>listing</a:t>
            </a:r>
            <a:r>
              <a:rPr lang="pt-PT" sz="1000" dirty="0">
                <a:latin typeface="Courier New"/>
              </a:rPr>
              <a:t>.</a:t>
            </a:r>
            <a:br>
              <a:rPr lang="pt-PT" sz="1000" dirty="0"/>
            </a:br>
            <a:r>
              <a:rPr lang="pt-PT" sz="1000" dirty="0">
                <a:latin typeface="Courier New"/>
              </a:rPr>
              <a:t>-</a:t>
            </a:r>
            <a:r>
              <a:rPr lang="pt-PT" sz="1000" dirty="0" err="1">
                <a:latin typeface="Courier New"/>
              </a:rPr>
              <a:t>rw</a:t>
            </a:r>
            <a:r>
              <a:rPr lang="pt-PT" sz="1000" dirty="0">
                <a:latin typeface="Courier New"/>
              </a:rPr>
              <a:t>-r--r-- 1 </a:t>
            </a:r>
            <a:r>
              <a:rPr lang="pt-PT" sz="1000" dirty="0" err="1">
                <a:latin typeface="Courier New"/>
              </a:rPr>
              <a:t>owner</a:t>
            </a:r>
            <a:r>
              <a:rPr lang="pt-PT" sz="1000" dirty="0">
                <a:latin typeface="Courier New"/>
              </a:rPr>
              <a:t> </a:t>
            </a:r>
            <a:r>
              <a:rPr lang="pt-PT" sz="1000" dirty="0" err="1">
                <a:latin typeface="Courier New"/>
              </a:rPr>
              <a:t>group</a:t>
            </a:r>
            <a:r>
              <a:rPr lang="pt-PT" sz="1000" dirty="0">
                <a:latin typeface="Courier New"/>
              </a:rPr>
              <a:t> 12345 Jan 01 2020 file.txt</a:t>
            </a:r>
            <a:br>
              <a:rPr lang="pt-PT" sz="1000" dirty="0"/>
            </a:br>
            <a:r>
              <a:rPr lang="pt-PT" sz="1000" dirty="0">
                <a:latin typeface="Courier New"/>
              </a:rPr>
              <a:t>226 </a:t>
            </a:r>
            <a:r>
              <a:rPr lang="pt-PT" sz="1000" dirty="0" err="1">
                <a:latin typeface="Courier New"/>
              </a:rPr>
              <a:t>Directory</a:t>
            </a:r>
            <a:r>
              <a:rPr lang="pt-PT" sz="1000" dirty="0">
                <a:latin typeface="Courier New"/>
              </a:rPr>
              <a:t> </a:t>
            </a:r>
            <a:r>
              <a:rPr lang="pt-PT" sz="1000" dirty="0" err="1">
                <a:latin typeface="Courier New"/>
              </a:rPr>
              <a:t>send</a:t>
            </a:r>
            <a:r>
              <a:rPr lang="pt-PT" sz="1000" dirty="0">
                <a:latin typeface="Courier New"/>
              </a:rPr>
              <a:t> OK.</a:t>
            </a:r>
            <a:br>
              <a:rPr lang="pt-PT" sz="1000" dirty="0"/>
            </a:br>
            <a:r>
              <a:rPr lang="pt-PT" sz="1000" dirty="0" err="1">
                <a:latin typeface="Courier New"/>
              </a:rPr>
              <a:t>ftp</a:t>
            </a:r>
            <a:r>
              <a:rPr lang="pt-PT" sz="1000" dirty="0">
                <a:latin typeface="Courier New"/>
              </a:rPr>
              <a:t>&gt; </a:t>
            </a:r>
            <a:r>
              <a:rPr lang="pt-PT" sz="1000" dirty="0" err="1">
                <a:latin typeface="Courier New"/>
              </a:rPr>
              <a:t>get</a:t>
            </a:r>
            <a:r>
              <a:rPr lang="pt-PT" sz="1000" dirty="0">
                <a:latin typeface="Courier New"/>
              </a:rPr>
              <a:t> file.txt</a:t>
            </a:r>
            <a:br>
              <a:rPr lang="pt-PT" sz="1000" dirty="0"/>
            </a:br>
            <a:r>
              <a:rPr lang="pt-PT" sz="1000" dirty="0">
                <a:latin typeface="Courier New"/>
              </a:rPr>
              <a:t>150 </a:t>
            </a:r>
            <a:r>
              <a:rPr lang="pt-PT" sz="1000" dirty="0" err="1">
                <a:latin typeface="Courier New"/>
              </a:rPr>
              <a:t>Opening</a:t>
            </a:r>
            <a:r>
              <a:rPr lang="pt-PT" sz="1000" dirty="0">
                <a:latin typeface="Courier New"/>
              </a:rPr>
              <a:t> BINARY </a:t>
            </a:r>
            <a:r>
              <a:rPr lang="pt-PT" sz="1000" dirty="0" err="1">
                <a:latin typeface="Courier New"/>
              </a:rPr>
              <a:t>mode</a:t>
            </a:r>
            <a:r>
              <a:rPr lang="pt-PT" sz="1000" dirty="0">
                <a:latin typeface="Courier New"/>
              </a:rPr>
              <a:t> data </a:t>
            </a:r>
            <a:r>
              <a:rPr lang="pt-PT" sz="1000" dirty="0" err="1">
                <a:latin typeface="Courier New"/>
              </a:rPr>
              <a:t>connection</a:t>
            </a:r>
            <a:r>
              <a:rPr lang="pt-PT" sz="1000" dirty="0">
                <a:latin typeface="Courier New"/>
              </a:rPr>
              <a:t> for file.txt (12345 bytes).</a:t>
            </a:r>
            <a:br>
              <a:rPr lang="pt-PT" sz="1000" dirty="0"/>
            </a:br>
            <a:r>
              <a:rPr lang="pt-PT" sz="1000" dirty="0">
                <a:latin typeface="Courier New"/>
              </a:rPr>
              <a:t>226 </a:t>
            </a:r>
            <a:r>
              <a:rPr lang="pt-PT" sz="1000" dirty="0" err="1">
                <a:latin typeface="Courier New"/>
              </a:rPr>
              <a:t>Transfer</a:t>
            </a:r>
            <a:r>
              <a:rPr lang="pt-PT" sz="1000" dirty="0">
                <a:latin typeface="Courier New"/>
              </a:rPr>
              <a:t> complete.</a:t>
            </a:r>
            <a:br>
              <a:rPr lang="pt-PT" sz="1000" dirty="0"/>
            </a:br>
            <a:r>
              <a:rPr lang="pt-PT" sz="1000" dirty="0" err="1">
                <a:latin typeface="Courier New"/>
              </a:rPr>
              <a:t>ftp</a:t>
            </a:r>
            <a:r>
              <a:rPr lang="pt-PT" sz="1000" dirty="0">
                <a:latin typeface="Courier New"/>
              </a:rPr>
              <a:t>&gt; </a:t>
            </a:r>
            <a:r>
              <a:rPr lang="pt-PT" sz="1000" dirty="0" err="1">
                <a:latin typeface="Courier New"/>
              </a:rPr>
              <a:t>quit</a:t>
            </a:r>
            <a:br>
              <a:rPr lang="pt-PT" sz="1000" dirty="0"/>
            </a:br>
            <a:r>
              <a:rPr lang="pt-PT" sz="1000" dirty="0">
                <a:latin typeface="Courier New"/>
              </a:rPr>
              <a:t>221 Goodbye.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C27E70C-5470-4262-B9CE-AE52C51CF4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B5C7D35F-738C-47DF-AD6E-859806E4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740F8C8B-E52F-46CF-89C7-51C6A037CF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7" name="Graphic 6" descr="Servidor">
            <a:extLst>
              <a:ext uri="{FF2B5EF4-FFF2-40B4-BE49-F238E27FC236}">
                <a16:creationId xmlns:a16="http://schemas.microsoft.com/office/drawing/2014/main" id="{4E28D0FA-BB8A-ED2E-2ECD-BD39099CA12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102735" y="1655170"/>
            <a:ext cx="3547660" cy="3547660"/>
          </a:xfrm>
          <a:prstGeom prst="rect">
            <a:avLst/>
          </a:prstGeom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9"/>
            <a:ext cx="4269714" cy="2587131"/>
          </a:xfrm>
        </p:spPr>
        <p:txBody>
          <a:bodyPr anchor="b">
            <a:normAutofit/>
          </a:bodyPr>
          <a:lstStyle/>
          <a:p>
            <a:pPr algn="l"/>
            <a:r>
              <a:rPr lang="pt-BR" sz="4200">
                <a:solidFill>
                  <a:schemeClr val="bg1"/>
                </a:solidFill>
              </a:rPr>
              <a:t>Exemplo: PORT x PASV (detalhe técnico)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89787" y="3566810"/>
            <a:ext cx="4269715" cy="2651110"/>
          </a:xfrm>
        </p:spPr>
        <p:txBody>
          <a:bodyPr anchor="ctr">
            <a:normAutofit/>
          </a:bodyPr>
          <a:lstStyle/>
          <a:p>
            <a:r>
              <a:rPr lang="pt-BR" sz="1500" dirty="0"/>
              <a:t>PORT (modo ativo):</a:t>
            </a:r>
          </a:p>
          <a:p>
            <a:pPr lvl="1"/>
            <a:r>
              <a:rPr lang="pt-BR" sz="1500" dirty="0"/>
              <a:t>CLIENT -&gt; SERVIDOR: PORT 192,0,2,100,195,80  (o cliente informa IP e porta)</a:t>
            </a:r>
          </a:p>
          <a:p>
            <a:pPr lvl="1"/>
            <a:r>
              <a:rPr lang="pt-BR" sz="1500" dirty="0"/>
              <a:t>Interpretação da porta: p = p1*256 + p2 -&gt; p = 195*256 + 80 = 49920 + 80 = 50000</a:t>
            </a:r>
          </a:p>
          <a:p>
            <a:r>
              <a:rPr lang="pt-BR" sz="1500" dirty="0"/>
              <a:t>PASV (modo passivo):</a:t>
            </a:r>
          </a:p>
          <a:p>
            <a:pPr lvl="1"/>
            <a:r>
              <a:rPr lang="pt-BR" sz="1500" dirty="0"/>
              <a:t>SERVIDOR -&gt; CLIENTE: 227 </a:t>
            </a:r>
            <a:r>
              <a:rPr lang="pt-BR" sz="1500" dirty="0" err="1"/>
              <a:t>Entering</a:t>
            </a:r>
            <a:r>
              <a:rPr lang="pt-BR" sz="1500" dirty="0"/>
              <a:t> Passive </a:t>
            </a:r>
            <a:r>
              <a:rPr lang="pt-BR" sz="1500" dirty="0" err="1"/>
              <a:t>Mode</a:t>
            </a:r>
            <a:r>
              <a:rPr lang="pt-BR" sz="1500" dirty="0"/>
              <a:t> (192,0,2,1,195,80) -&gt; cliente conecta para (192.0.2.1:50000)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C27E70C-5470-4262-B9CE-AE52C51CF4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B5C7D35F-738C-47DF-AD6E-859806E4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740F8C8B-E52F-46CF-89C7-51C6A037CF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7" name="Graphic 6" descr="Chave">
            <a:extLst>
              <a:ext uri="{FF2B5EF4-FFF2-40B4-BE49-F238E27FC236}">
                <a16:creationId xmlns:a16="http://schemas.microsoft.com/office/drawing/2014/main" id="{613F76F3-38B4-2975-17AD-F0C6EE55146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102735" y="1655170"/>
            <a:ext cx="3547660" cy="3547660"/>
          </a:xfrm>
          <a:prstGeom prst="rect">
            <a:avLst/>
          </a:prstGeom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9"/>
            <a:ext cx="4269714" cy="2587131"/>
          </a:xfrm>
        </p:spPr>
        <p:txBody>
          <a:bodyPr anchor="b">
            <a:normAutofit/>
          </a:bodyPr>
          <a:lstStyle/>
          <a:p>
            <a:pPr algn="l"/>
            <a:r>
              <a:rPr lang="pt-BR" sz="4200">
                <a:solidFill>
                  <a:schemeClr val="bg1"/>
                </a:solidFill>
              </a:rPr>
              <a:t>Comandos FTP úteis (com exemplos)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89787" y="3566810"/>
            <a:ext cx="4269715" cy="2651110"/>
          </a:xfrm>
        </p:spPr>
        <p:txBody>
          <a:bodyPr anchor="ctr">
            <a:normAutofit/>
          </a:bodyPr>
          <a:lstStyle/>
          <a:p>
            <a:r>
              <a:rPr lang="pt-PT" sz="1600" dirty="0"/>
              <a:t>USER &lt;</a:t>
            </a:r>
            <a:r>
              <a:rPr lang="pt-PT" sz="1600" dirty="0" err="1"/>
              <a:t>username</a:t>
            </a:r>
            <a:r>
              <a:rPr lang="pt-PT" sz="1600" dirty="0"/>
              <a:t>&gt;   -&gt; USER </a:t>
            </a:r>
            <a:r>
              <a:rPr lang="pt-PT" sz="1600" dirty="0" err="1"/>
              <a:t>alice</a:t>
            </a:r>
            <a:endParaRPr lang="pt-PT" sz="1600" dirty="0"/>
          </a:p>
          <a:p>
            <a:pPr lvl="1"/>
            <a:r>
              <a:rPr lang="pt-PT" sz="1600" dirty="0"/>
              <a:t>PASS &lt;password&gt;   -&gt; PASS </a:t>
            </a:r>
            <a:r>
              <a:rPr lang="pt-PT" sz="1600" dirty="0" err="1"/>
              <a:t>secret</a:t>
            </a:r>
            <a:endParaRPr lang="pt-PT" sz="1600" dirty="0"/>
          </a:p>
          <a:p>
            <a:pPr lvl="1"/>
            <a:r>
              <a:rPr lang="pt-PT" sz="1600" dirty="0"/>
              <a:t>LIST              -&gt; LIST (ou </a:t>
            </a:r>
            <a:r>
              <a:rPr lang="pt-PT" sz="1600" dirty="0" err="1"/>
              <a:t>ls</a:t>
            </a:r>
            <a:r>
              <a:rPr lang="pt-PT" sz="1600" dirty="0"/>
              <a:t>)</a:t>
            </a:r>
          </a:p>
          <a:p>
            <a:pPr lvl="1"/>
            <a:r>
              <a:rPr lang="pt-PT" sz="1600" dirty="0"/>
              <a:t>RETR &lt;</a:t>
            </a:r>
            <a:r>
              <a:rPr lang="pt-PT" sz="1600" dirty="0" err="1"/>
              <a:t>filename</a:t>
            </a:r>
            <a:r>
              <a:rPr lang="pt-PT" sz="1600" dirty="0"/>
              <a:t>&gt;   -&gt; RETR file.txt (baixar)</a:t>
            </a:r>
          </a:p>
          <a:p>
            <a:pPr lvl="1"/>
            <a:r>
              <a:rPr lang="pt-PT" sz="1600" dirty="0"/>
              <a:t>STOR &lt;</a:t>
            </a:r>
            <a:r>
              <a:rPr lang="pt-PT" sz="1600" dirty="0" err="1"/>
              <a:t>filename</a:t>
            </a:r>
            <a:r>
              <a:rPr lang="pt-PT" sz="1600" dirty="0"/>
              <a:t>&gt;   -&gt; STOR newfile.txt (enviar)</a:t>
            </a:r>
          </a:p>
          <a:p>
            <a:pPr lvl="1"/>
            <a:r>
              <a:rPr lang="pt-PT" sz="1600" dirty="0"/>
              <a:t>QUIT              -&gt; QUIT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C27E70C-5470-4262-B9CE-AE52C51CF4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B5C7D35F-738C-47DF-AD6E-859806E4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740F8C8B-E52F-46CF-89C7-51C6A037CF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3" name="Picture 2" descr="ftps_vs_sftp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3209" y="3689636"/>
            <a:ext cx="8775292" cy="2976635"/>
          </a:xfrm>
          <a:prstGeom prst="rect">
            <a:avLst/>
          </a:prstGeom>
        </p:spPr>
      </p:pic>
      <p:grpSp>
        <p:nvGrpSpPr>
          <p:cNvPr id="17" name="Group 16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9"/>
            <a:ext cx="4269714" cy="2587131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l" defTabSz="914400">
              <a:lnSpc>
                <a:spcPct val="90000"/>
              </a:lnSpc>
            </a:pPr>
            <a:r>
              <a:rPr lang="en-US" sz="4200" kern="1200">
                <a:solidFill>
                  <a:schemeClr val="bg1"/>
                </a:solidFill>
                <a:latin typeface="+mj-lt"/>
                <a:ea typeface="+mj-ea"/>
                <a:cs typeface="+mj-cs"/>
              </a:rPr>
              <a:t>FTPS vs SFTP (resumo)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4407356" y="1472597"/>
            <a:ext cx="4269715" cy="212416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defTabSz="914400">
              <a:lnSpc>
                <a:spcPct val="90000"/>
              </a:lnSpc>
              <a:spcAft>
                <a:spcPts val="600"/>
              </a:spcAft>
            </a:pPr>
            <a:r>
              <a:rPr lang="en-US" sz="1600" dirty="0"/>
              <a:t>• FTPS = FTP com TLS/SSL (</a:t>
            </a:r>
            <a:r>
              <a:rPr lang="en-US" sz="1600" dirty="0" err="1"/>
              <a:t>criptografa</a:t>
            </a:r>
            <a:r>
              <a:rPr lang="en-US" sz="1600" dirty="0"/>
              <a:t> </a:t>
            </a:r>
            <a:r>
              <a:rPr lang="en-US" sz="1600" dirty="0" err="1"/>
              <a:t>controle</a:t>
            </a:r>
            <a:r>
              <a:rPr lang="en-US" sz="1600" dirty="0"/>
              <a:t> e </a:t>
            </a:r>
            <a:r>
              <a:rPr lang="en-US" sz="1600" dirty="0" err="1"/>
              <a:t>opcionalmente</a:t>
            </a:r>
            <a:r>
              <a:rPr lang="en-US" sz="1600" dirty="0"/>
              <a:t> dados). Usa </a:t>
            </a:r>
            <a:r>
              <a:rPr lang="en-US" sz="1600" dirty="0" err="1"/>
              <a:t>portas</a:t>
            </a:r>
            <a:r>
              <a:rPr lang="en-US" sz="1600" dirty="0"/>
              <a:t> 21/990 </a:t>
            </a:r>
            <a:r>
              <a:rPr lang="en-US" sz="1600" dirty="0" err="1"/>
              <a:t>ou</a:t>
            </a:r>
            <a:r>
              <a:rPr lang="en-US" sz="1600" dirty="0"/>
              <a:t> </a:t>
            </a:r>
            <a:r>
              <a:rPr lang="en-US" sz="1600" dirty="0" err="1"/>
              <a:t>negociação</a:t>
            </a:r>
            <a:r>
              <a:rPr lang="en-US" sz="1600" dirty="0"/>
              <a:t> TLS.</a:t>
            </a:r>
          </a:p>
          <a:p>
            <a:pPr defTabSz="914400">
              <a:lnSpc>
                <a:spcPct val="90000"/>
              </a:lnSpc>
              <a:spcAft>
                <a:spcPts val="600"/>
              </a:spcAft>
            </a:pPr>
            <a:r>
              <a:rPr lang="en-US" sz="1600" dirty="0"/>
              <a:t>• SFTP = </a:t>
            </a:r>
            <a:r>
              <a:rPr lang="en-US" sz="1600" dirty="0" err="1"/>
              <a:t>protocolo</a:t>
            </a:r>
            <a:r>
              <a:rPr lang="en-US" sz="1600" dirty="0"/>
              <a:t> de </a:t>
            </a:r>
            <a:r>
              <a:rPr lang="en-US" sz="1600" dirty="0" err="1"/>
              <a:t>transferência</a:t>
            </a:r>
            <a:r>
              <a:rPr lang="en-US" sz="1600" dirty="0"/>
              <a:t> via SSH (porta 22) — </a:t>
            </a:r>
            <a:r>
              <a:rPr lang="en-US" sz="1600" dirty="0" err="1"/>
              <a:t>diferente</a:t>
            </a:r>
            <a:r>
              <a:rPr lang="en-US" sz="1600" dirty="0"/>
              <a:t> do FTP, </a:t>
            </a:r>
            <a:r>
              <a:rPr lang="en-US" sz="1600" dirty="0" err="1"/>
              <a:t>não</a:t>
            </a:r>
            <a:r>
              <a:rPr lang="en-US" sz="1600" dirty="0"/>
              <a:t> é FTP </a:t>
            </a:r>
            <a:r>
              <a:rPr lang="en-US" sz="1600" dirty="0" err="1"/>
              <a:t>sobre</a:t>
            </a:r>
            <a:r>
              <a:rPr lang="en-US" sz="1600" dirty="0"/>
              <a:t> SSH.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C27E70C-5470-4262-B9CE-AE52C51CF4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B5C7D35F-738C-47DF-AD6E-859806E4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740F8C8B-E52F-46CF-89C7-51C6A037CF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7" name="Graphic 6" descr="Pestanas">
            <a:extLst>
              <a:ext uri="{FF2B5EF4-FFF2-40B4-BE49-F238E27FC236}">
                <a16:creationId xmlns:a16="http://schemas.microsoft.com/office/drawing/2014/main" id="{6518B05B-9A3B-9FC9-F6A0-0E785BDF1B4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102735" y="1655170"/>
            <a:ext cx="3547660" cy="3547660"/>
          </a:xfrm>
          <a:prstGeom prst="rect">
            <a:avLst/>
          </a:prstGeom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9"/>
            <a:ext cx="4269714" cy="2587131"/>
          </a:xfrm>
        </p:spPr>
        <p:txBody>
          <a:bodyPr anchor="b">
            <a:normAutofit/>
          </a:bodyPr>
          <a:lstStyle/>
          <a:p>
            <a:pPr algn="l"/>
            <a:r>
              <a:rPr lang="pt-PT" sz="4200">
                <a:solidFill>
                  <a:schemeClr val="bg1"/>
                </a:solidFill>
              </a:rPr>
              <a:t>Exemplos práticos de cliente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89787" y="3566810"/>
            <a:ext cx="4269715" cy="2651110"/>
          </a:xfrm>
        </p:spPr>
        <p:txBody>
          <a:bodyPr anchor="ctr">
            <a:normAutofit/>
          </a:bodyPr>
          <a:lstStyle/>
          <a:p>
            <a:r>
              <a:rPr lang="en-US" sz="1600" b="1" dirty="0" err="1">
                <a:latin typeface="Courier New"/>
              </a:rPr>
              <a:t>Usando</a:t>
            </a:r>
            <a:r>
              <a:rPr lang="en-US" sz="1600" b="1" dirty="0">
                <a:latin typeface="Courier New"/>
              </a:rPr>
              <a:t> curl (FTP):</a:t>
            </a:r>
          </a:p>
          <a:p>
            <a:pPr lvl="1"/>
            <a:r>
              <a:rPr lang="en-US" sz="1600" dirty="0">
                <a:latin typeface="Courier New"/>
              </a:rPr>
              <a:t>curl -u </a:t>
            </a:r>
            <a:r>
              <a:rPr lang="en-US" sz="1600" dirty="0" err="1">
                <a:latin typeface="Courier New"/>
              </a:rPr>
              <a:t>user:pass</a:t>
            </a:r>
            <a:r>
              <a:rPr lang="en-US" sz="1600" dirty="0">
                <a:latin typeface="Courier New"/>
              </a:rPr>
              <a:t> ftp://ftp.example.com/dir/file.txt -O</a:t>
            </a:r>
          </a:p>
          <a:p>
            <a:r>
              <a:rPr lang="en-US" sz="1600" b="1" dirty="0" err="1">
                <a:latin typeface="Courier New"/>
              </a:rPr>
              <a:t>Usando</a:t>
            </a:r>
            <a:r>
              <a:rPr lang="en-US" sz="1600" b="1" dirty="0">
                <a:latin typeface="Courier New"/>
              </a:rPr>
              <a:t> sftp (SSH):</a:t>
            </a:r>
          </a:p>
          <a:p>
            <a:pPr lvl="1"/>
            <a:r>
              <a:rPr lang="en-US" sz="1600" dirty="0">
                <a:latin typeface="Courier New"/>
              </a:rPr>
              <a:t>sftp </a:t>
            </a:r>
            <a:r>
              <a:rPr lang="en-US" sz="1600" dirty="0" err="1">
                <a:latin typeface="Courier New"/>
              </a:rPr>
              <a:t>user@host</a:t>
            </a:r>
            <a:br>
              <a:rPr lang="en-US" sz="1600" dirty="0"/>
            </a:br>
            <a:r>
              <a:rPr lang="en-US" sz="1600" dirty="0">
                <a:latin typeface="Courier New"/>
              </a:rPr>
              <a:t>sftp&gt; put </a:t>
            </a:r>
            <a:r>
              <a:rPr lang="en-US" sz="1600" dirty="0" err="1">
                <a:latin typeface="Courier New"/>
              </a:rPr>
              <a:t>localfile</a:t>
            </a:r>
            <a:br>
              <a:rPr lang="en-US" sz="1600" dirty="0"/>
            </a:br>
            <a:r>
              <a:rPr lang="en-US" sz="1600" dirty="0">
                <a:latin typeface="Courier New"/>
              </a:rPr>
              <a:t>sftp&gt; get </a:t>
            </a:r>
            <a:r>
              <a:rPr lang="en-US" sz="1600" dirty="0" err="1">
                <a:latin typeface="Courier New"/>
              </a:rPr>
              <a:t>remotefile</a:t>
            </a:r>
            <a:endParaRPr lang="en-US" sz="1600" dirty="0">
              <a:latin typeface="Courier New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C27E70C-5470-4262-B9CE-AE52C51CF4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B5C7D35F-738C-47DF-AD6E-859806E4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740F8C8B-E52F-46CF-89C7-51C6A037CF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7" name="Graphic 6" descr="Desbloquear">
            <a:extLst>
              <a:ext uri="{FF2B5EF4-FFF2-40B4-BE49-F238E27FC236}">
                <a16:creationId xmlns:a16="http://schemas.microsoft.com/office/drawing/2014/main" id="{1C1A1B25-A462-23EB-C99B-CA1023791E6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102735" y="1655170"/>
            <a:ext cx="3547660" cy="3547660"/>
          </a:xfrm>
          <a:prstGeom prst="rect">
            <a:avLst/>
          </a:prstGeom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9"/>
            <a:ext cx="4269714" cy="2587131"/>
          </a:xfrm>
        </p:spPr>
        <p:txBody>
          <a:bodyPr anchor="b">
            <a:normAutofit/>
          </a:bodyPr>
          <a:lstStyle/>
          <a:p>
            <a:pPr algn="l"/>
            <a:r>
              <a:rPr lang="pt-PT" sz="4200">
                <a:solidFill>
                  <a:schemeClr val="bg1"/>
                </a:solidFill>
              </a:rPr>
              <a:t>Boas práticas de segurança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89787" y="3566810"/>
            <a:ext cx="4269715" cy="2651110"/>
          </a:xfrm>
        </p:spPr>
        <p:txBody>
          <a:bodyPr anchor="ctr">
            <a:normAutofit/>
          </a:bodyPr>
          <a:lstStyle/>
          <a:p>
            <a:pPr marL="0" indent="0">
              <a:buNone/>
            </a:pPr>
            <a:r>
              <a:rPr lang="pt-BR" sz="1600" dirty="0"/>
              <a:t>• Evitar FTP sem criptografia em redes inseguras.</a:t>
            </a:r>
          </a:p>
          <a:p>
            <a:pPr marL="0" indent="0">
              <a:buNone/>
            </a:pPr>
            <a:r>
              <a:rPr lang="pt-BR" sz="1600" dirty="0"/>
              <a:t>• Preferir FTPS ou SFTP.</a:t>
            </a:r>
          </a:p>
          <a:p>
            <a:pPr marL="0" indent="0">
              <a:buNone/>
            </a:pPr>
            <a:r>
              <a:rPr lang="pt-BR" sz="1600" dirty="0"/>
              <a:t>• Restringir portas passivas (definir faixa) e abrir somente no firewall.</a:t>
            </a:r>
          </a:p>
          <a:p>
            <a:pPr marL="0" indent="0">
              <a:buNone/>
            </a:pPr>
            <a:r>
              <a:rPr lang="pt-BR" sz="1600" dirty="0"/>
              <a:t>• Usar autenticação forte e, quando possível, chaves públicas (no caso do SFTP).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C27E70C-5470-4262-B9CE-AE52C51CF4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B5C7D35F-738C-47DF-AD6E-859806E4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740F8C8B-E52F-46CF-89C7-51C6A037CF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7" name="Graphic 6" descr="Aspas">
            <a:extLst>
              <a:ext uri="{FF2B5EF4-FFF2-40B4-BE49-F238E27FC236}">
                <a16:creationId xmlns:a16="http://schemas.microsoft.com/office/drawing/2014/main" id="{19270F77-0737-3567-22AA-25B12EF10FA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102735" y="1655170"/>
            <a:ext cx="3547660" cy="3547660"/>
          </a:xfrm>
          <a:prstGeom prst="rect">
            <a:avLst/>
          </a:prstGeom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9"/>
            <a:ext cx="4269714" cy="2587131"/>
          </a:xfrm>
        </p:spPr>
        <p:txBody>
          <a:bodyPr anchor="b">
            <a:normAutofit/>
          </a:bodyPr>
          <a:lstStyle/>
          <a:p>
            <a:pPr algn="l"/>
            <a:r>
              <a:rPr lang="pt-PT" sz="4200">
                <a:solidFill>
                  <a:schemeClr val="bg1"/>
                </a:solidFill>
              </a:rPr>
              <a:t>Exemplo de configuração (vsftpd)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89787" y="3566810"/>
            <a:ext cx="4269715" cy="2651110"/>
          </a:xfrm>
        </p:spPr>
        <p:txBody>
          <a:bodyPr anchor="ctr">
            <a:normAutofit/>
          </a:bodyPr>
          <a:lstStyle/>
          <a:p>
            <a:r>
              <a:rPr lang="pt-PT" sz="1600" dirty="0">
                <a:latin typeface="Courier New"/>
              </a:rPr>
              <a:t>Trecho de /</a:t>
            </a:r>
            <a:r>
              <a:rPr lang="pt-PT" sz="1600" dirty="0" err="1">
                <a:latin typeface="Courier New"/>
              </a:rPr>
              <a:t>etc</a:t>
            </a:r>
            <a:r>
              <a:rPr lang="pt-PT" sz="1600" dirty="0">
                <a:latin typeface="Courier New"/>
              </a:rPr>
              <a:t>/</a:t>
            </a:r>
            <a:r>
              <a:rPr lang="pt-PT" sz="1600" dirty="0" err="1">
                <a:latin typeface="Courier New"/>
              </a:rPr>
              <a:t>vsftpd.conf</a:t>
            </a:r>
            <a:r>
              <a:rPr lang="pt-PT" sz="1600" dirty="0">
                <a:latin typeface="Courier New"/>
              </a:rPr>
              <a:t> para modo passivo:</a:t>
            </a:r>
          </a:p>
          <a:p>
            <a:pPr lvl="1"/>
            <a:r>
              <a:rPr lang="pt-PT" sz="1600" dirty="0" err="1">
                <a:latin typeface="Courier New"/>
              </a:rPr>
              <a:t>pasv_enable</a:t>
            </a:r>
            <a:r>
              <a:rPr lang="pt-PT" sz="1600" dirty="0">
                <a:latin typeface="Courier New"/>
              </a:rPr>
              <a:t>=YES</a:t>
            </a:r>
          </a:p>
          <a:p>
            <a:pPr lvl="1"/>
            <a:r>
              <a:rPr lang="pt-PT" sz="1600" dirty="0" err="1">
                <a:latin typeface="Courier New"/>
              </a:rPr>
              <a:t>pasv_min_port</a:t>
            </a:r>
            <a:r>
              <a:rPr lang="pt-PT" sz="1600" dirty="0">
                <a:latin typeface="Courier New"/>
              </a:rPr>
              <a:t>=50000</a:t>
            </a:r>
          </a:p>
          <a:p>
            <a:pPr lvl="1"/>
            <a:r>
              <a:rPr lang="pt-PT" sz="1600" dirty="0" err="1">
                <a:latin typeface="Courier New"/>
              </a:rPr>
              <a:t>pasv_max_port</a:t>
            </a:r>
            <a:r>
              <a:rPr lang="pt-PT" sz="1600" dirty="0">
                <a:latin typeface="Courier New"/>
              </a:rPr>
              <a:t>=51000</a:t>
            </a:r>
          </a:p>
          <a:p>
            <a:pPr lvl="1"/>
            <a:r>
              <a:rPr lang="pt-PT" sz="1600" dirty="0" err="1">
                <a:latin typeface="Courier New"/>
              </a:rPr>
              <a:t>pasv_address</a:t>
            </a:r>
            <a:r>
              <a:rPr lang="pt-PT" sz="1600" dirty="0">
                <a:latin typeface="Courier New"/>
              </a:rPr>
              <a:t>=</a:t>
            </a:r>
            <a:r>
              <a:rPr lang="pt-PT" sz="1600" dirty="0" err="1">
                <a:latin typeface="Courier New"/>
              </a:rPr>
              <a:t>seu.ip.publico</a:t>
            </a:r>
            <a:endParaRPr lang="pt-PT" sz="1600" dirty="0">
              <a:latin typeface="Courier New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C27E70C-5470-4262-B9CE-AE52C51CF4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B5C7D35F-738C-47DF-AD6E-859806E4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740F8C8B-E52F-46CF-89C7-51C6A037CF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7" name="Graphic 6" descr="Aplicação CRM Customer Insights">
            <a:extLst>
              <a:ext uri="{FF2B5EF4-FFF2-40B4-BE49-F238E27FC236}">
                <a16:creationId xmlns:a16="http://schemas.microsoft.com/office/drawing/2014/main" id="{FADE7712-ACB8-D6A6-863B-FFB43AB244D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102735" y="1655170"/>
            <a:ext cx="3547660" cy="3547660"/>
          </a:xfrm>
          <a:prstGeom prst="rect">
            <a:avLst/>
          </a:prstGeom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9"/>
            <a:ext cx="4269714" cy="2587131"/>
          </a:xfrm>
        </p:spPr>
        <p:txBody>
          <a:bodyPr anchor="b">
            <a:normAutofit/>
          </a:bodyPr>
          <a:lstStyle/>
          <a:p>
            <a:pPr algn="l"/>
            <a:r>
              <a:rPr lang="pt-PT" sz="4200">
                <a:solidFill>
                  <a:schemeClr val="bg1"/>
                </a:solidFill>
              </a:rPr>
              <a:t>Ferramentas e clientes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89787" y="3566810"/>
            <a:ext cx="4269715" cy="2651110"/>
          </a:xfrm>
        </p:spPr>
        <p:txBody>
          <a:bodyPr anchor="ctr">
            <a:normAutofit/>
          </a:bodyPr>
          <a:lstStyle/>
          <a:p>
            <a:r>
              <a:rPr lang="pt-PT" sz="1600" b="1" dirty="0"/>
              <a:t>Clientes populares:</a:t>
            </a:r>
          </a:p>
          <a:p>
            <a:pPr lvl="1"/>
            <a:r>
              <a:rPr lang="pt-PT" sz="1600" dirty="0"/>
              <a:t>• </a:t>
            </a:r>
            <a:r>
              <a:rPr lang="pt-PT" sz="1600" dirty="0" err="1"/>
              <a:t>FileZilla</a:t>
            </a:r>
            <a:r>
              <a:rPr lang="pt-PT" sz="1600" dirty="0"/>
              <a:t> (GUI)</a:t>
            </a:r>
          </a:p>
          <a:p>
            <a:pPr lvl="1"/>
            <a:r>
              <a:rPr lang="pt-PT" sz="1600" dirty="0"/>
              <a:t>• </a:t>
            </a:r>
            <a:r>
              <a:rPr lang="pt-PT" sz="1600" dirty="0" err="1"/>
              <a:t>WinSCP</a:t>
            </a:r>
            <a:r>
              <a:rPr lang="pt-PT" sz="1600" dirty="0"/>
              <a:t> (GUI, SFTP/FTPS)</a:t>
            </a:r>
          </a:p>
          <a:p>
            <a:pPr lvl="1"/>
            <a:r>
              <a:rPr lang="pt-PT" sz="1600" dirty="0"/>
              <a:t>• </a:t>
            </a:r>
            <a:r>
              <a:rPr lang="pt-PT" sz="1600" dirty="0" err="1"/>
              <a:t>lftp</a:t>
            </a:r>
            <a:r>
              <a:rPr lang="pt-PT" sz="1600" dirty="0"/>
              <a:t> (CLI)</a:t>
            </a:r>
          </a:p>
          <a:p>
            <a:pPr lvl="1"/>
            <a:r>
              <a:rPr lang="pt-PT" sz="1600" dirty="0"/>
              <a:t>• </a:t>
            </a:r>
            <a:r>
              <a:rPr lang="pt-PT" sz="1600" dirty="0" err="1"/>
              <a:t>curl</a:t>
            </a:r>
            <a:r>
              <a:rPr lang="pt-PT" sz="1600" dirty="0"/>
              <a:t> (CLI)</a:t>
            </a:r>
          </a:p>
          <a:p>
            <a:r>
              <a:rPr lang="pt-PT" sz="1600" b="1" dirty="0"/>
              <a:t>Servidores populares:</a:t>
            </a:r>
          </a:p>
          <a:p>
            <a:pPr lvl="1"/>
            <a:r>
              <a:rPr lang="pt-PT" sz="1600" dirty="0"/>
              <a:t>• </a:t>
            </a:r>
            <a:r>
              <a:rPr lang="pt-PT" sz="1600" dirty="0" err="1"/>
              <a:t>vsftpd</a:t>
            </a:r>
            <a:r>
              <a:rPr lang="pt-PT" sz="1600" dirty="0"/>
              <a:t>, </a:t>
            </a:r>
            <a:r>
              <a:rPr lang="pt-PT" sz="1600" dirty="0" err="1"/>
              <a:t>proftpd</a:t>
            </a:r>
            <a:r>
              <a:rPr lang="pt-PT" sz="1600" dirty="0"/>
              <a:t>, </a:t>
            </a:r>
            <a:r>
              <a:rPr lang="pt-PT" sz="1600" dirty="0" err="1"/>
              <a:t>pure-ftpd</a:t>
            </a:r>
            <a:endParaRPr lang="pt-PT" sz="1600" dirty="0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C27E70C-5470-4262-B9CE-AE52C51CF4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B5C7D35F-738C-47DF-AD6E-859806E4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740F8C8B-E52F-46CF-89C7-51C6A037CF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7" name="Graphic 6" descr="Open Folder">
            <a:extLst>
              <a:ext uri="{FF2B5EF4-FFF2-40B4-BE49-F238E27FC236}">
                <a16:creationId xmlns:a16="http://schemas.microsoft.com/office/drawing/2014/main" id="{90FB9280-E2AD-DA1E-CC92-61CB01A56D5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102735" y="1655170"/>
            <a:ext cx="3547660" cy="3547660"/>
          </a:xfrm>
          <a:prstGeom prst="rect">
            <a:avLst/>
          </a:prstGeom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9"/>
            <a:ext cx="4269714" cy="2587131"/>
          </a:xfrm>
        </p:spPr>
        <p:txBody>
          <a:bodyPr anchor="b">
            <a:normAutofit/>
          </a:bodyPr>
          <a:lstStyle/>
          <a:p>
            <a:pPr algn="l"/>
            <a:r>
              <a:rPr lang="pt-PT" sz="4200">
                <a:solidFill>
                  <a:schemeClr val="bg1"/>
                </a:solidFill>
              </a:rPr>
              <a:t>Resumo &amp; Referências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89787" y="3566810"/>
            <a:ext cx="4269715" cy="2651110"/>
          </a:xfrm>
        </p:spPr>
        <p:txBody>
          <a:bodyPr anchor="ctr">
            <a:normAutofit/>
          </a:bodyPr>
          <a:lstStyle/>
          <a:p>
            <a:r>
              <a:rPr lang="pt-BR" sz="1600" b="1" dirty="0"/>
              <a:t>Resumo:</a:t>
            </a:r>
          </a:p>
          <a:p>
            <a:pPr lvl="1"/>
            <a:r>
              <a:rPr lang="pt-BR" sz="1600" b="1" dirty="0"/>
              <a:t>FTP </a:t>
            </a:r>
            <a:r>
              <a:rPr lang="pt-BR" sz="1600" dirty="0"/>
              <a:t>= protocolo de aplicação para transferência de arquivos usando TCP.</a:t>
            </a:r>
          </a:p>
          <a:p>
            <a:pPr lvl="1"/>
            <a:r>
              <a:rPr lang="pt-BR" sz="1600" b="1" dirty="0"/>
              <a:t>Tenha cuidado com segurança</a:t>
            </a:r>
            <a:r>
              <a:rPr lang="pt-BR" sz="1600" dirty="0"/>
              <a:t>: prefira FTPS/SFTP.</a:t>
            </a:r>
          </a:p>
          <a:p>
            <a:pPr lvl="1"/>
            <a:r>
              <a:rPr lang="pt-BR" sz="1600" b="1" dirty="0"/>
              <a:t>Referências sugeridas</a:t>
            </a:r>
            <a:r>
              <a:rPr lang="pt-BR" sz="1600" dirty="0"/>
              <a:t>: RFC 959 (FTP), documentação de </a:t>
            </a:r>
            <a:r>
              <a:rPr lang="pt-BR" sz="1600" dirty="0" err="1"/>
              <a:t>vsftpd</a:t>
            </a:r>
            <a:r>
              <a:rPr lang="pt-BR" sz="1600" dirty="0"/>
              <a:t>/</a:t>
            </a:r>
            <a:r>
              <a:rPr lang="pt-BR" sz="1600" dirty="0" err="1"/>
              <a:t>proftpd</a:t>
            </a:r>
            <a:r>
              <a:rPr lang="pt-BR" sz="1600" dirty="0"/>
              <a:t>, </a:t>
            </a:r>
            <a:r>
              <a:rPr lang="pt-BR" sz="1600" dirty="0" err="1"/>
              <a:t>man</a:t>
            </a:r>
            <a:r>
              <a:rPr lang="pt-BR" sz="1600" dirty="0"/>
              <a:t> </a:t>
            </a:r>
            <a:r>
              <a:rPr lang="pt-BR" sz="1600" dirty="0" err="1"/>
              <a:t>pages</a:t>
            </a:r>
            <a:r>
              <a:rPr lang="pt-BR" sz="1600" dirty="0"/>
              <a:t> de </a:t>
            </a:r>
            <a:r>
              <a:rPr lang="pt-BR" sz="1600" dirty="0" err="1"/>
              <a:t>sftp</a:t>
            </a:r>
            <a:r>
              <a:rPr lang="pt-BR" sz="1600" dirty="0"/>
              <a:t>/</a:t>
            </a:r>
            <a:r>
              <a:rPr lang="pt-BR" sz="1600" dirty="0" err="1"/>
              <a:t>ftp</a:t>
            </a:r>
            <a:r>
              <a:rPr lang="pt-BR" sz="1600" dirty="0"/>
              <a:t>/</a:t>
            </a:r>
            <a:r>
              <a:rPr lang="pt-BR" sz="1600" dirty="0" err="1"/>
              <a:t>curl</a:t>
            </a:r>
            <a:r>
              <a:rPr lang="pt-BR" sz="1600" dirty="0"/>
              <a:t>.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51</TotalTime>
  <Words>883</Words>
  <Application>Microsoft Office PowerPoint</Application>
  <PresentationFormat>Apresentação no Ecrã (4:3)</PresentationFormat>
  <Paragraphs>81</Paragraphs>
  <Slides>16</Slides>
  <Notes>0</Notes>
  <HiddenSlides>0</HiddenSlides>
  <MMClips>0</MMClips>
  <ScaleCrop>false</ScaleCrop>
  <HeadingPairs>
    <vt:vector size="6" baseType="variant">
      <vt:variant>
        <vt:lpstr>Tipos de letra usados</vt:lpstr>
      </vt:variant>
      <vt:variant>
        <vt:i4>3</vt:i4>
      </vt:variant>
      <vt:variant>
        <vt:lpstr>Tema</vt:lpstr>
      </vt:variant>
      <vt:variant>
        <vt:i4>1</vt:i4>
      </vt:variant>
      <vt:variant>
        <vt:lpstr>Títulos dos diapositivos</vt:lpstr>
      </vt:variant>
      <vt:variant>
        <vt:i4>16</vt:i4>
      </vt:variant>
    </vt:vector>
  </HeadingPairs>
  <TitlesOfParts>
    <vt:vector size="20" baseType="lpstr">
      <vt:lpstr>Arial</vt:lpstr>
      <vt:lpstr>Calibri</vt:lpstr>
      <vt:lpstr>Courier New</vt:lpstr>
      <vt:lpstr>Office Theme</vt:lpstr>
      <vt:lpstr>FTP – File Transfer Protocol Camada de Aplicação (Modelo TCP/IP)</vt:lpstr>
      <vt:lpstr>Sumário</vt:lpstr>
      <vt:lpstr>O que é FTP?</vt:lpstr>
      <vt:lpstr>Como funciona o protocolo?</vt:lpstr>
      <vt:lpstr>Arquitetura: canais de controle e dados</vt:lpstr>
      <vt:lpstr>Modo Ativo (Active)</vt:lpstr>
      <vt:lpstr>Modo Passivo (Passive)</vt:lpstr>
      <vt:lpstr>Exemplo: Sessão FTP (Anônima)</vt:lpstr>
      <vt:lpstr>Exemplo: PORT x PASV (detalhe técnico)</vt:lpstr>
      <vt:lpstr>Comandos FTP úteis (com exemplos)</vt:lpstr>
      <vt:lpstr>FTPS vs SFTP (resumo)</vt:lpstr>
      <vt:lpstr>Exemplos práticos de cliente</vt:lpstr>
      <vt:lpstr>Boas práticas de segurança</vt:lpstr>
      <vt:lpstr>Exemplo de configuração (vsftpd)</vt:lpstr>
      <vt:lpstr>Ferramentas e clientes</vt:lpstr>
      <vt:lpstr>Resumo &amp; Referências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>User</dc:creator>
  <cp:keywords/>
  <dc:description>generated using python-pptx</dc:description>
  <cp:lastModifiedBy>MANOEL BARATA</cp:lastModifiedBy>
  <cp:revision>5</cp:revision>
  <dcterms:created xsi:type="dcterms:W3CDTF">2013-01-27T09:14:16Z</dcterms:created>
  <dcterms:modified xsi:type="dcterms:W3CDTF">2025-08-08T18:56:05Z</dcterms:modified>
  <cp:category/>
</cp:coreProperties>
</file>